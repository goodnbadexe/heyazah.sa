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telligent-determined-davinci/work/posters/Scene-sm.jp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B2A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3840480"/>
            <a:ext cx="12191695" cy="3017520"/>
          </a:xfrm>
          <a:prstGeom prst="rect">
            <a:avLst/>
          </a:prstGeom>
          <a:solidFill>
            <a:srgbClr val="082B2A">
              <a:alpha val="8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85800" y="4572000"/>
            <a:ext cx="640080" cy="36576"/>
          </a:xfrm>
          <a:prstGeom prst="rect">
            <a:avLst/>
          </a:prstGeom>
          <a:solidFill>
            <a:srgbClr val="99856A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43159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9856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HEYAZAH  ·  CLIENT PITCH  ·  2026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85800" y="47548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From Static to Alive.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685800" y="5760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1C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من موقع جامد إلى منصة حيّة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8580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1C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WordPress, motion, and cinematic video — engineered to make Heyazah feel the way it performs.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2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0080"/>
            <a:ext cx="32004" cy="5577840"/>
          </a:xfrm>
          <a:prstGeom prst="rect">
            <a:avLst/>
          </a:prstGeom>
          <a:solidFill>
            <a:srgbClr val="99856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9856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THE THESIS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45375" y="6400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9856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الأطروحة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Alive ≠ flashy.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99856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Alive = precise motion + honest video.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3063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1C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الحياة ≠ البهرجة. الحياة = حركة دقيقة + فيديو صادق.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85800" y="4206240"/>
            <a:ext cx="274320" cy="274320"/>
          </a:xfrm>
          <a:prstGeom prst="ellipse">
            <a:avLst/>
          </a:prstGeom>
          <a:solidFill>
            <a:srgbClr val="99856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41148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856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Controlled motion</a:t>
            </a:r>
            <a:pPr indent="0" marL="0">
              <a:buNone/>
            </a:pPr>
            <a:r>
              <a:rPr lang="en-US" sz="1300" i="1" dirty="0">
                <a:solidFill>
                  <a:srgbClr val="CAD1C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  ·  not confetti animation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4348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CCBD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Mercedes-grade smoothness. Every transform earns its place.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0" y="41148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1C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نعومة على مستوى مرسيدس. كل حركة لها سبب.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4892040"/>
            <a:ext cx="274320" cy="274320"/>
          </a:xfrm>
          <a:prstGeom prst="ellipse">
            <a:avLst/>
          </a:prstGeom>
          <a:solidFill>
            <a:srgbClr val="99856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892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48006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856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Cinematic video</a:t>
            </a:r>
            <a:pPr indent="0" marL="0">
              <a:buNone/>
            </a:pPr>
            <a:r>
              <a:rPr lang="en-US" sz="1300" i="1" dirty="0">
                <a:solidFill>
                  <a:srgbClr val="CAD1C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  ·  not stock imagery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51206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CCBD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Binghatti-style reveals. Each project launches like a product.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48006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1C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كشف سينمائي. كل مشروع يُطلق كمنتج.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577840"/>
            <a:ext cx="274320" cy="274320"/>
          </a:xfrm>
          <a:prstGeom prst="ellipse">
            <a:avLst/>
          </a:prstGeom>
          <a:solidFill>
            <a:srgbClr val="99856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5577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54864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856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One canonical home</a:t>
            </a:r>
            <a:pPr indent="0" marL="0">
              <a:buNone/>
            </a:pPr>
            <a:r>
              <a:rPr lang="en-US" sz="1300" i="1" dirty="0">
                <a:solidFill>
                  <a:srgbClr val="CAD1C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  ·  not three domains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58064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CCBD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heyazah.sa owns the story. .com and .cloud redirect in.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0" y="54864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1C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heyazah.sa هو المرجع. والباقي يُوجَّه إليه.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AD1C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HEYAZAH  · 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AD1C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02  /  08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0080"/>
            <a:ext cx="32004" cy="5577840"/>
          </a:xfrm>
          <a:prstGeom prst="rect">
            <a:avLst/>
          </a:prstGeom>
          <a:solidFill>
            <a:srgbClr val="99856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2515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THE LIVING LAYER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45375" y="6400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02515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الطبقة الحيّة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Two forces turn a page into a place.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45375" y="105156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2515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قوّتان تحوّلان الصفحة إلى مكان.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5394960" cy="3657600"/>
          </a:xfrm>
          <a:prstGeom prst="rect">
            <a:avLst/>
          </a:prstGeom>
          <a:solidFill>
            <a:srgbClr val="082B2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423160"/>
            <a:ext cx="73152" cy="3657600"/>
          </a:xfrm>
          <a:prstGeom prst="rect">
            <a:avLst/>
          </a:prstGeom>
          <a:solidFill>
            <a:srgbClr val="99856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6974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Motion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005840" y="3474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856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الحركة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3977640"/>
            <a:ext cx="731520" cy="27432"/>
          </a:xfrm>
          <a:prstGeom prst="rect">
            <a:avLst/>
          </a:prstGeom>
          <a:solidFill>
            <a:srgbClr val="99856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1148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1C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Scroll-triggered transforms. Micro-interactions. Lottie moments. Invisible when not needed, unmistakable when used.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5029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CCBD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حركة عند التمرير، وتأثيرات دقيقة لا تُزعج.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5532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9856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Motion.Page  ·  GSAP  ·  Lottie  ·  Scrollsequence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2423160"/>
            <a:ext cx="5394960" cy="3657600"/>
          </a:xfrm>
          <a:prstGeom prst="rect">
            <a:avLst/>
          </a:prstGeom>
          <a:solidFill>
            <a:srgbClr val="082B2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2423160"/>
            <a:ext cx="73152" cy="3657600"/>
          </a:xfrm>
          <a:prstGeom prst="rect">
            <a:avLst/>
          </a:prstGeom>
          <a:solidFill>
            <a:srgbClr val="99856A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26974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Video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629400" y="3474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856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الفيديو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629400" y="3977640"/>
            <a:ext cx="731520" cy="27432"/>
          </a:xfrm>
          <a:prstGeom prst="rect">
            <a:avLst/>
          </a:prstGeom>
          <a:solidFill>
            <a:srgbClr val="99856A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41148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1C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Cinematic assets baked into hero, reveal, showcase, and search moments. Autoplay-muted, lazy, poster-first.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29400" y="5029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CCBD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فيديو سينمائي في كل موضع بصري رئيسي.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5532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9856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HTML5 native  ·  Bunny Stream  ·  WebM + MP4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HEYAZAH  · 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03  /  08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0080"/>
            <a:ext cx="32004" cy="5577840"/>
          </a:xfrm>
          <a:prstGeom prst="rect">
            <a:avLst/>
          </a:prstGeom>
          <a:solidFill>
            <a:srgbClr val="99856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2515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STACK  ·  WORDPRESS ANIMATION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45375" y="6400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02515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الحزمة  ·  حركة ووردبريس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We build alive — inside WordPress.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45375" y="105156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2515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نبني الحياة داخل ووردبريس.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85800" y="2286000"/>
            <a:ext cx="35661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1C7"/>
            </a:solidFill>
            <a:prstDash val="solid"/>
          </a:ln>
          <a:effectLst>
            <a:outerShdw sx="100000" sy="100000" kx="0" ky="0" algn="bl" rotWithShape="0" blurRad="63500" dist="1524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286000"/>
            <a:ext cx="54864" cy="1828800"/>
          </a:xfrm>
          <a:prstGeom prst="rect">
            <a:avLst/>
          </a:prstGeom>
          <a:solidFill>
            <a:srgbClr val="99856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Motion.Page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515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GSAP + ScrollTrigger builder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3154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Luxury micro-interactions, performance-first.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حركات فاخرة بأداء عالٍ.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2286000"/>
            <a:ext cx="35661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1C7"/>
            </a:solidFill>
            <a:prstDash val="solid"/>
          </a:ln>
          <a:effectLst>
            <a:outerShdw sx="100000" sy="100000" kx="0" ky="0" algn="bl" rotWithShape="0" blurRad="63500" dist="1524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0560" y="2286000"/>
            <a:ext cx="54864" cy="1828800"/>
          </a:xfrm>
          <a:prstGeom prst="rect">
            <a:avLst/>
          </a:prstGeom>
          <a:solidFill>
            <a:srgbClr val="99856A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Elementor Pro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5488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515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Parallax · entrance · scroll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3154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Controlled motion, managed inside the builder.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حركات منضبطة داخل إيليمنتور.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75320" y="2286000"/>
            <a:ext cx="35661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1C7"/>
            </a:solidFill>
            <a:prstDash val="solid"/>
          </a:ln>
          <a:effectLst>
            <a:outerShdw sx="100000" sy="100000" kx="0" ky="0" algn="bl" rotWithShape="0" blurRad="63500" dist="1524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75320" y="2286000"/>
            <a:ext cx="54864" cy="1828800"/>
          </a:xfrm>
          <a:prstGeom prst="rect">
            <a:avLst/>
          </a:prstGeom>
          <a:solidFill>
            <a:srgbClr val="99856A"/>
          </a:solidFill>
          <a:ln/>
        </p:spPr>
      </p:sp>
      <p:sp>
        <p:nvSpPr>
          <p:cNvPr id="21" name="Text 19"/>
          <p:cNvSpPr/>
          <p:nvPr/>
        </p:nvSpPr>
        <p:spPr>
          <a:xfrm>
            <a:off x="854964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LottieFiles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4964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515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Vector Lottie animations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49640" y="3154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Feather-light motion, replaces heavy GIFs.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4964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حركات متّجهية خفيفة.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" y="4343400"/>
            <a:ext cx="35661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1C7"/>
            </a:solidFill>
            <a:prstDash val="solid"/>
          </a:ln>
          <a:effectLst>
            <a:outerShdw sx="100000" sy="100000" kx="0" ky="0" algn="bl" rotWithShape="0" blurRad="63500" dist="1524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" y="4343400"/>
            <a:ext cx="54864" cy="1828800"/>
          </a:xfrm>
          <a:prstGeom prst="rect">
            <a:avLst/>
          </a:prstGeom>
          <a:solidFill>
            <a:srgbClr val="99856A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Scrollsequence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0120" y="4892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515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Cinematic scroll storytelling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60120" y="5212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Reserved for the flagship tower reveal.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5715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السرد السينمائي عند التمرير.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80560" y="4343400"/>
            <a:ext cx="35661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1C7"/>
            </a:solidFill>
            <a:prstDash val="solid"/>
          </a:ln>
          <a:effectLst>
            <a:outerShdw sx="100000" sy="100000" kx="0" ky="0" algn="bl" rotWithShape="0" blurRad="63500" dist="15240" dir="54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80560" y="4343400"/>
            <a:ext cx="54864" cy="1828800"/>
          </a:xfrm>
          <a:prstGeom prst="rect">
            <a:avLst/>
          </a:prstGeom>
          <a:solidFill>
            <a:srgbClr val="99856A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GSAP (engine)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754880" y="4892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515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Under the hood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5212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Industry-grade. Transforms only. 60fps.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5715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محرك الحركة الأساسي.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275320" y="4343400"/>
            <a:ext cx="35661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1C7"/>
            </a:solidFill>
            <a:prstDash val="solid"/>
          </a:ln>
          <a:effectLst>
            <a:outerShdw sx="100000" sy="100000" kx="0" ky="0" algn="bl" rotWithShape="0" blurRad="63500" dist="15240" dir="54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75320" y="4343400"/>
            <a:ext cx="54864" cy="1828800"/>
          </a:xfrm>
          <a:prstGeom prst="rect">
            <a:avLst/>
          </a:prstGeom>
          <a:solidFill>
            <a:srgbClr val="99856A"/>
          </a:solidFill>
          <a:ln/>
        </p:spPr>
      </p:sp>
      <p:sp>
        <p:nvSpPr>
          <p:cNvPr id="39" name="Text 37"/>
          <p:cNvSpPr/>
          <p:nvPr/>
        </p:nvSpPr>
        <p:spPr>
          <a:xfrm>
            <a:off x="8549640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Lenis scroll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549640" y="4892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515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Momentum smooth scroll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49640" y="5212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Mercedes glide. Disabled on mobile.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549640" y="5715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انسياب ناعم على سطح المكتب.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HEYAZAH  ·  2026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04  /  08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0080"/>
            <a:ext cx="32004" cy="5577840"/>
          </a:xfrm>
          <a:prstGeom prst="rect">
            <a:avLst/>
          </a:prstGeom>
          <a:solidFill>
            <a:srgbClr val="99856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2515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GUARDRAILS  ·  PREMIUM = FAST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45375" y="6400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02515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ضوابط  ·  الفخامة = السرعة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If it stutters, it isn't luxury.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45375" y="105156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2515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إن تلعثمت الحركة، فليست فخامة.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347472" cy="347472"/>
          </a:xfrm>
          <a:prstGeom prst="ellipse">
            <a:avLst/>
          </a:prstGeom>
          <a:solidFill>
            <a:srgbClr val="99856A"/>
          </a:solidFill>
          <a:ln w="19050">
            <a:solidFill>
              <a:srgbClr val="082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331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Transforms only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697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Animate translate / scale / opacity. Never layout.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3154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حركة الـ transforms فقط.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2423160"/>
            <a:ext cx="347472" cy="347472"/>
          </a:xfrm>
          <a:prstGeom prst="ellipse">
            <a:avLst/>
          </a:prstGeom>
          <a:solidFill>
            <a:srgbClr val="99856A"/>
          </a:solidFill>
          <a:ln w="19050">
            <a:solidFill>
              <a:srgbClr val="082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12280" y="2331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Lazy-load heavy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12280" y="2697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Videos and maps load on demand, not on page open.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12280" y="3154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التحميل عند الطلب.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749040"/>
            <a:ext cx="347472" cy="347472"/>
          </a:xfrm>
          <a:prstGeom prst="ellipse">
            <a:avLst/>
          </a:prstGeom>
          <a:solidFill>
            <a:srgbClr val="99856A"/>
          </a:solidFill>
          <a:ln w="19050">
            <a:solidFill>
              <a:srgbClr val="082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657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Poster-first video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88720" y="40233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First paint is a static image. Video swaps in.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4480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صورة ثابتة قبل الفيديو.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3749040"/>
            <a:ext cx="347472" cy="347472"/>
          </a:xfrm>
          <a:prstGeom prst="ellipse">
            <a:avLst/>
          </a:prstGeom>
          <a:solidFill>
            <a:srgbClr val="99856A"/>
          </a:solidFill>
          <a:ln w="19050">
            <a:solidFill>
              <a:srgbClr val="082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12280" y="3657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Mobile first test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12280" y="40233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If it stutters on mid-range Android, it fails QA.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12280" y="4480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الاختبار على الموبايل أولًا.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" y="5074920"/>
            <a:ext cx="347472" cy="347472"/>
          </a:xfrm>
          <a:prstGeom prst="ellipse">
            <a:avLst/>
          </a:prstGeom>
          <a:solidFill>
            <a:srgbClr val="99856A"/>
          </a:solidFill>
          <a:ln w="19050">
            <a:solidFill>
              <a:srgbClr val="082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074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88720" y="4983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One cinematic moment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88720" y="5349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Per page. Restraint reads as premium.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88720" y="5806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لحظة سينمائية واحدة لكل صفحة.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5074920"/>
            <a:ext cx="347472" cy="347472"/>
          </a:xfrm>
          <a:prstGeom prst="ellipse">
            <a:avLst/>
          </a:prstGeom>
          <a:solidFill>
            <a:srgbClr val="99856A"/>
          </a:solidFill>
          <a:ln w="19050">
            <a:solidFill>
              <a:srgbClr val="082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5074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12280" y="4983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RTL / LTR parity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812280" y="5349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Every animation tested in both directions.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12280" y="5806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تكافؤ الاتجاهين.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HEYAZAH  · 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05  /  08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0080"/>
            <a:ext cx="32004" cy="5577840"/>
          </a:xfrm>
          <a:prstGeom prst="rect">
            <a:avLst/>
          </a:prstGeom>
          <a:solidFill>
            <a:srgbClr val="99856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2515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VIDEO STRATEGY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45375" y="6400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02515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استراتيجية الفيديو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Four videos become site furniture.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45375" y="105156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2515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أربعة فيديوهات تصبح مكوّنات ثابتة.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85800" y="2468880"/>
            <a:ext cx="26974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1C7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pic>
        <p:nvPicPr>
          <p:cNvPr id="8" name="Image 0" descr="/sessions/intelligent-determined-davinci/work/posters/Scene-s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" y="2542032"/>
            <a:ext cx="2551176" cy="1435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691640" y="2834640"/>
            <a:ext cx="685800" cy="685800"/>
          </a:xfrm>
          <a:prstGeom prst="ellipse">
            <a:avLst/>
          </a:prstGeom>
          <a:solidFill>
            <a:srgbClr val="FFFFFF">
              <a:alpha val="85000"/>
            </a:srgbClr>
          </a:solidFill>
          <a:ln w="25400">
            <a:solidFill>
              <a:srgbClr val="99856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91640" y="2834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▶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85800" y="3977640"/>
            <a:ext cx="2697480" cy="36576"/>
          </a:xfrm>
          <a:prstGeom prst="rect">
            <a:avLst/>
          </a:prstGeom>
          <a:solidFill>
            <a:srgbClr val="99856A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4114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01  Hero cinematic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68680" y="4480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515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Homepage header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4800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واجهة الصفحة الرئيسية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" y="5303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Motion brief below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511296" y="2468880"/>
            <a:ext cx="26974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1C7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pic>
        <p:nvPicPr>
          <p:cNvPr id="17" name="Image 1" descr="/sessions/intelligent-determined-davinci/work/posters/16-9-sm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84448" y="2542032"/>
            <a:ext cx="2551176" cy="143560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517136" y="2834640"/>
            <a:ext cx="685800" cy="685800"/>
          </a:xfrm>
          <a:prstGeom prst="ellipse">
            <a:avLst/>
          </a:prstGeom>
          <a:solidFill>
            <a:srgbClr val="FFFFFF">
              <a:alpha val="85000"/>
            </a:srgbClr>
          </a:solidFill>
          <a:ln w="25400">
            <a:solidFill>
              <a:srgbClr val="99856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17136" y="2834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▶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3511296" y="3977640"/>
            <a:ext cx="2697480" cy="36576"/>
          </a:xfrm>
          <a:prstGeom prst="rect">
            <a:avLst/>
          </a:prstGeom>
          <a:solidFill>
            <a:srgbClr val="99856A"/>
          </a:solidFill>
          <a:ln/>
        </p:spPr>
      </p:sp>
      <p:sp>
        <p:nvSpPr>
          <p:cNvPr id="21" name="Text 17"/>
          <p:cNvSpPr/>
          <p:nvPr/>
        </p:nvSpPr>
        <p:spPr>
          <a:xfrm>
            <a:off x="3694176" y="4114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02  Signature reveal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694176" y="4480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515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Flagship project page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694176" y="4800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صفحة المشروع الرئيسي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694176" y="5303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Motion brief below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6336792" y="2468880"/>
            <a:ext cx="26974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1C7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pic>
        <p:nvPicPr>
          <p:cNvPr id="26" name="Image 2" descr="/sessions/intelligent-determined-davinci/work/posters/Orbit-sm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9944" y="2542032"/>
            <a:ext cx="2551176" cy="1435608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7342632" y="2834640"/>
            <a:ext cx="685800" cy="685800"/>
          </a:xfrm>
          <a:prstGeom prst="ellipse">
            <a:avLst/>
          </a:prstGeom>
          <a:solidFill>
            <a:srgbClr val="FFFFFF">
              <a:alpha val="85000"/>
            </a:srgbClr>
          </a:solidFill>
          <a:ln w="25400">
            <a:solidFill>
              <a:srgbClr val="99856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342632" y="2834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▶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6336792" y="3977640"/>
            <a:ext cx="2697480" cy="36576"/>
          </a:xfrm>
          <a:prstGeom prst="rect">
            <a:avLst/>
          </a:prstGeom>
          <a:solidFill>
            <a:srgbClr val="99856A"/>
          </a:solidFill>
          <a:ln/>
        </p:spPr>
      </p:sp>
      <p:sp>
        <p:nvSpPr>
          <p:cNvPr id="30" name="Text 25"/>
          <p:cNvSpPr/>
          <p:nvPr/>
        </p:nvSpPr>
        <p:spPr>
          <a:xfrm>
            <a:off x="6519672" y="4114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03  Portfolio ribbon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6519672" y="4480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515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Projects showcase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6519672" y="4800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استعراض المحفظة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6519672" y="5303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Motion brief below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9162288" y="2468880"/>
            <a:ext cx="26974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1C7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pic>
        <p:nvPicPr>
          <p:cNvPr id="35" name="Image 3" descr="/sessions/intelligent-determined-davinci/work/posters/Search-sm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35440" y="2542032"/>
            <a:ext cx="2551176" cy="1435608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10168128" y="2834640"/>
            <a:ext cx="685800" cy="685800"/>
          </a:xfrm>
          <a:prstGeom prst="ellipse">
            <a:avLst/>
          </a:prstGeom>
          <a:solidFill>
            <a:srgbClr val="FFFFFF">
              <a:alpha val="85000"/>
            </a:srgbClr>
          </a:solidFill>
          <a:ln w="25400">
            <a:solidFill>
              <a:srgbClr val="99856A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10168128" y="2834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▶</a:t>
            </a:r>
            <a:endParaRPr lang="en-US" sz="1800" dirty="0"/>
          </a:p>
        </p:txBody>
      </p:sp>
      <p:sp>
        <p:nvSpPr>
          <p:cNvPr id="38" name="Shape 32"/>
          <p:cNvSpPr/>
          <p:nvPr/>
        </p:nvSpPr>
        <p:spPr>
          <a:xfrm>
            <a:off x="9162288" y="3977640"/>
            <a:ext cx="2697480" cy="36576"/>
          </a:xfrm>
          <a:prstGeom prst="rect">
            <a:avLst/>
          </a:prstGeom>
          <a:solidFill>
            <a:srgbClr val="99856A"/>
          </a:solidFill>
          <a:ln/>
        </p:spPr>
      </p:sp>
      <p:sp>
        <p:nvSpPr>
          <p:cNvPr id="39" name="Text 33"/>
          <p:cNvSpPr/>
          <p:nvPr/>
        </p:nvSpPr>
        <p:spPr>
          <a:xfrm>
            <a:off x="9345168" y="4114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04  Unified domain moment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9345168" y="4480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515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Search → canonical CTA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9345168" y="4800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البحث والنطاق الموحّد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9345168" y="5303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Motion brief below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685800" y="5989320"/>
            <a:ext cx="10820095" cy="365760"/>
          </a:xfrm>
          <a:prstGeom prst="rect">
            <a:avLst/>
          </a:prstGeom>
          <a:solidFill>
            <a:srgbClr val="082B2A"/>
          </a:solidFill>
          <a:ln/>
        </p:spPr>
      </p:sp>
      <p:sp>
        <p:nvSpPr>
          <p:cNvPr id="44" name="Text 38"/>
          <p:cNvSpPr/>
          <p:nvPr/>
        </p:nvSpPr>
        <p:spPr>
          <a:xfrm>
            <a:off x="868680" y="6007608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856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Auto-play muted  ·  poster-first  ·  Scrollsequence triggers at 40% viewport  ·  GSAP carousel on hover  ·  lazy-load after hero.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HEYAZAH  ·  2026</a:t>
            </a:r>
            <a:endParaRPr lang="en-US" sz="900" dirty="0"/>
          </a:p>
        </p:txBody>
      </p:sp>
      <p:sp>
        <p:nvSpPr>
          <p:cNvPr id="46" name="Text 40"/>
          <p:cNvSpPr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06  /  08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0080"/>
            <a:ext cx="32004" cy="5577840"/>
          </a:xfrm>
          <a:prstGeom prst="rect">
            <a:avLst/>
          </a:prstGeom>
          <a:solidFill>
            <a:srgbClr val="99856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2515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PORTFOLIO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45375" y="6400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02515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هيكلة المحفظة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Three buckets. One template. Zero confusion.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45375" y="105156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2515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ثلاث حالات. قالب واحد. لا ارتباك.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85800" y="2240280"/>
            <a:ext cx="35661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CAD1C7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240280"/>
            <a:ext cx="3566160" cy="640080"/>
          </a:xfrm>
          <a:prstGeom prst="rect">
            <a:avLst/>
          </a:prstGeom>
          <a:solidFill>
            <a:srgbClr val="B0B5A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4048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OLD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3017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515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Completed · Delivered · Sold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3291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مكتمل · مسلّم · مباع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36576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A0A0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Heyazah Gate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A0A0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Waha Waves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A0A0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Oasis Gate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A0A0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The Roofs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A0A0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Takamul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A0A0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Prime Square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A0A0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Heyazah Haven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A0A0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Narges villas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A0A0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Villa Roves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0120" y="5760720"/>
            <a:ext cx="3017520" cy="18288"/>
          </a:xfrm>
          <a:prstGeom prst="rect">
            <a:avLst/>
          </a:prstGeom>
          <a:solidFill>
            <a:srgbClr val="99856A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852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Proof of delivery</a:t>
            </a:r>
            <a:pPr indent="0" marL="0">
              <a:buNone/>
            </a:pPr>
            <a:r>
              <a:rPr lang="en-US" sz="1000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  ·  إثبات التسليم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2240280"/>
            <a:ext cx="35661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CAD1C7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80560" y="2240280"/>
            <a:ext cx="3566160" cy="640080"/>
          </a:xfrm>
          <a:prstGeom prst="rect">
            <a:avLst/>
          </a:prstGeom>
          <a:solidFill>
            <a:srgbClr val="025157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4048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CONTINUING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3017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515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Under construction · Executing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3291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قيد الإنشاء · قيد التنفيذ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36576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A0A0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SKYLINE (78%)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A0A0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The S Tower (56%)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A0A0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Sigma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A0A0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AMD Center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A0A0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Ventora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A0A0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Al Jazirah Complex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5760720"/>
            <a:ext cx="3017520" cy="18288"/>
          </a:xfrm>
          <a:prstGeom prst="rect">
            <a:avLst/>
          </a:prstGeom>
          <a:solidFill>
            <a:srgbClr val="99856A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5852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Momentum layer</a:t>
            </a:r>
            <a:pPr indent="0" marL="0">
              <a:buNone/>
            </a:pPr>
            <a:r>
              <a:rPr lang="en-US" sz="1000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  ·  طبقة الاستمرارية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75320" y="2240280"/>
            <a:ext cx="35661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CAD1C7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75320" y="2240280"/>
            <a:ext cx="3566160" cy="640080"/>
          </a:xfrm>
          <a:prstGeom prst="rect">
            <a:avLst/>
          </a:prstGeom>
          <a:solidFill>
            <a:srgbClr val="99856A"/>
          </a:solidFill>
          <a:ln/>
        </p:spPr>
      </p:sp>
      <p:sp>
        <p:nvSpPr>
          <p:cNvPr id="25" name="Text 23"/>
          <p:cNvSpPr/>
          <p:nvPr/>
        </p:nvSpPr>
        <p:spPr>
          <a:xfrm>
            <a:off x="8549640" y="24048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NEW · PIPELINE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49640" y="3017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515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Announced · Coming soon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49640" y="3291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مُعلن · قريبًا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49640" y="36576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A0A0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Heyazah Tower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A0A0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Alsaif Center 1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A0A0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Sumood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A0A0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A-series (A3, A7, A9)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A0A0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B-series (B8, B19, B23)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A0A0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Heyazah Compound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49640" y="5760720"/>
            <a:ext cx="3017520" cy="18288"/>
          </a:xfrm>
          <a:prstGeom prst="rect">
            <a:avLst/>
          </a:prstGeom>
          <a:solidFill>
            <a:srgbClr val="99856A"/>
          </a:solidFill>
          <a:ln/>
        </p:spPr>
      </p:sp>
      <p:sp>
        <p:nvSpPr>
          <p:cNvPr id="30" name="Text 28"/>
          <p:cNvSpPr/>
          <p:nvPr/>
        </p:nvSpPr>
        <p:spPr>
          <a:xfrm>
            <a:off x="8549640" y="5852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Vision layer</a:t>
            </a:r>
            <a:pPr indent="0" marL="0">
              <a:buNone/>
            </a:pPr>
            <a:r>
              <a:rPr lang="en-US" sz="1000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  ·  طبقة الرؤية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HEYAZAH  · 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6A6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07  /  08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2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0080"/>
            <a:ext cx="32004" cy="5577840"/>
          </a:xfrm>
          <a:prstGeom prst="rect">
            <a:avLst/>
          </a:prstGeom>
          <a:solidFill>
            <a:srgbClr val="99856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9856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45375" y="6400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9856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خارطة الطريق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We grow this one step at a time.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45375" y="105156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AD1C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ننمو خطوة بخطوة.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9856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Foundation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63440" y="23317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1C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heyazah.sa becomes the only domain. All content consolidated.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69680" y="2377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1CCBD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توحيد النطاق والمحتوى.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0632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9856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55448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Living layer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3108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1C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Motion stack wired. 4 videos deployed to hero · reveal · ribbon · search.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69680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1CCBD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طبقة الحركة والفيديوهات.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38404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9856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554480" y="3886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Project pages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63440" y="3886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1C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Unified template. Status badges. Progress meters live.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69680" y="3931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1CCBD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قوالب المشاريع الموحّدة.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46177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9856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554480" y="4663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Scale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663440" y="46634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1C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Analytics · A/B · bilingual SEO. Brand becomes a market signal.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69680" y="4709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1CCBD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النموّ والقياس.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5577840"/>
            <a:ext cx="10820095" cy="640080"/>
          </a:xfrm>
          <a:prstGeom prst="rect">
            <a:avLst/>
          </a:prstGeom>
          <a:solidFill>
            <a:srgbClr val="99856A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6235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Let's make Heyazah feel the way it performs.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26680" y="562356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82B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لنجعل حيازة تُحَسّ كما تُنجِز.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AD1C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HEYAZAH  · 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AD1C7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08  /  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Heyazah 2026</dc:title>
  <dc:subject>PptxGenJS Presentation</dc:subject>
  <dc:creator>PptxGenJS</dc:creator>
  <cp:lastModifiedBy>PptxGenJS</cp:lastModifiedBy>
  <cp:revision>1</cp:revision>
  <dcterms:created xsi:type="dcterms:W3CDTF">2026-04-22T18:58:26Z</dcterms:created>
  <dcterms:modified xsi:type="dcterms:W3CDTF">2026-04-22T18:58:26Z</dcterms:modified>
</cp:coreProperties>
</file>